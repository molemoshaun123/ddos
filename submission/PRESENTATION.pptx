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Start by framing the problem. DDoS detection tells us an attack is happening and which hosts are bots. But the critical follow-up question — who ordered the attack — has no systematic, unsupervised answer in the literature. The C2 commands are small flows that precede the attack and look like normal traffic.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Explain the core idea. Regardless of C2 architecture, the commands to attack must arrive at the bots before they start attacking. COBT exploits this causal timing relationship. It's entirely unsupervised — no labelled data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min] Walk through each signal. Temporal precedence is the strongest signal — did the candidate talk to bots right before they attacked? Fan-out catches the burst pattern of centralised C2. Baseline deviation filters out benign high-fanout servers. Graph centrality helps with proxy chains.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This is the key novelty claim. The adaptive fusion lets the system handle different botnet architectures without knowing which one it's facing. The heuristics look at burst patterns, periodicity, and indirect 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Quick overview of the architecture. Pure Python, no ML frameworks. The simulator is highly configurable with decoy hosts that look like controllers but are benign.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Detection is near-perfect across all attack types. This is expected for our synthetic data and validates that the detector provides a solid foundation for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This is the key result slide. COBT achieves Top-1 = 83.3% and MRR = 0.855, massively outperforming random (MRR 0.118), fan-out (MRR 0.254), and degree centrality (MRR 0.254). The gap demonstrates that multi-signal fusion provides real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 The ablation confirms temporal precedence is the most important signal. Removing it causes the biggest MRR drop. Fan-out is second. Baseline and graph provide supporting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Be honest about limitations. Deep proxy: botmaster hidden behind 3 layers, can't trace. Idle botmaster: C2 falls outside our analysis window. High jitter: timing signal washed out. These are real, fundamental limitations, not just parameter tuning issues.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 Run the demo live. The CLI generates a scenario and runs the full pipeline. Show the output: detected attack, identified bots, and the ranked attribution list with the botmaster correctly at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Wrap up. COBT is a novel, practical approach to a hard problem. It works well for direct and beacon C2, struggles with proxy chains. The honest evaluation of limitations makes the contribution credible.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Causal Onset Back-Tracing (COBT)</a:t>
            </a:r>
          </a:p>
        </p:txBody>
      </p:sp>
      <p:sp>
        <p:nvSpPr>
          <p:cNvPr id="3" name="Subtitle 2"/>
          <p:cNvSpPr>
            <a:spLocks noGrp="1"/>
          </p:cNvSpPr>
          <p:nvPr>
            <p:ph type="subTitle" idx="1"/>
          </p:nvPr>
        </p:nvSpPr>
        <p:spPr/>
        <p:txBody>
          <a:bodyPr/>
          <a:lstStyle/>
          <a:p>
            <a:r>
              <a:t>A Novel Approach to DDoS Botmaster Attribution</a:t>
            </a:r>
          </a:p>
          <a:p>
            <a:r>
              <a:t>Honours Semester Project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Problem</a:t>
            </a:r>
          </a:p>
        </p:txBody>
      </p:sp>
      <p:sp>
        <p:nvSpPr>
          <p:cNvPr id="3" name="Content Placeholder 2"/>
          <p:cNvSpPr>
            <a:spLocks noGrp="1"/>
          </p:cNvSpPr>
          <p:nvPr>
            <p:ph idx="1"/>
          </p:nvPr>
        </p:nvSpPr>
        <p:spPr/>
        <p:txBody>
          <a:bodyPr/>
          <a:lstStyle/>
          <a:p>
            <a:r>
              <a:t>DDoS attacks: botnets flood victims with traffic</a:t>
            </a:r>
          </a:p>
          <a:p>
            <a:r>
              <a:t>Detection is well-studied — we know THAT an attack happens</a:t>
            </a:r>
          </a:p>
          <a:p>
            <a:r>
              <a:t>Attribution is the gap — we don't know WHO commanded it</a:t>
            </a:r>
          </a:p>
          <a:p>
            <a:r>
              <a:t>Challenge: C2 traffic is small, infrequent, and designed to blend in</a:t>
            </a:r>
          </a:p>
          <a:p>
            <a:r>
              <a:t>Existing methods: IP traceback, ML classifiers — none rank botmaster candidates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Our Approach: COBT</a:t>
            </a:r>
          </a:p>
        </p:txBody>
      </p:sp>
      <p:sp>
        <p:nvSpPr>
          <p:cNvPr id="3" name="Content Placeholder 2"/>
          <p:cNvSpPr>
            <a:spLocks noGrp="1"/>
          </p:cNvSpPr>
          <p:nvPr>
            <p:ph idx="1"/>
          </p:nvPr>
        </p:nvSpPr>
        <p:spPr/>
        <p:txBody>
          <a:bodyPr/>
          <a:lstStyle/>
          <a:p>
            <a:r>
              <a:t>Key insight: C2 commands must PRECEDE bot attack onsets</a:t>
            </a:r>
          </a:p>
          <a:p>
            <a:r>
              <a:t>Step 1: Detect attack, estimate each bot's onset time T₀</a:t>
            </a:r>
          </a:p>
          <a:p>
            <a:r>
              <a:t>Step 2: Look BACKWARD in time (pre-window)</a:t>
            </a:r>
          </a:p>
          <a:p>
            <a:r>
              <a:t>Step 3: Score every non-bot host as a candidate controller</a:t>
            </a:r>
          </a:p>
          <a:p>
            <a:r>
              <a:t>Step 4: Rank candidates by fused multi-signal score</a:t>
            </a:r>
          </a:p>
          <a:p>
            <a:r>
              <a:t>No training data, no signatures, no payload inspection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Scoring Signals</a:t>
            </a:r>
          </a:p>
        </p:txBody>
      </p:sp>
      <p:sp>
        <p:nvSpPr>
          <p:cNvPr id="3" name="Content Placeholder 2"/>
          <p:cNvSpPr>
            <a:spLocks noGrp="1"/>
          </p:cNvSpPr>
          <p:nvPr>
            <p:ph idx="1"/>
          </p:nvPr>
        </p:nvSpPr>
        <p:spPr/>
        <p:txBody>
          <a:bodyPr/>
          <a:lstStyle/>
          <a:p>
            <a:r>
              <a:t>1. Temporal Precedence: consistent pre-onset contact with bots</a:t>
            </a:r>
          </a:p>
          <a:p>
            <a:r>
              <a:t>   → coverage × consistency × recency</a:t>
            </a:r>
          </a:p>
          <a:p>
            <a:r>
              <a:t>2. Fan-out Synchrony: burst of contacts to many bots at once</a:t>
            </a:r>
          </a:p>
          <a:p>
            <a:r>
              <a:t>   → max bots contacted in a 10-second window</a:t>
            </a:r>
          </a:p>
          <a:p>
            <a:r>
              <a:t>3. Baseline Deviation: unusual pre-attack behaviour vs history</a:t>
            </a:r>
          </a:p>
          <a:p>
            <a:r>
              <a:t>   → spike in destination fan-out rate</a:t>
            </a:r>
          </a:p>
          <a:p>
            <a:r>
              <a:t>4. Graph Centrality: star structure toward bots + betweenness</a:t>
            </a:r>
          </a:p>
          <a:p>
            <a:r>
              <a:t>   → 0.7 × star_score + 0.3 × betweenness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Adaptive Fusion</a:t>
            </a:r>
          </a:p>
        </p:txBody>
      </p:sp>
      <p:sp>
        <p:nvSpPr>
          <p:cNvPr id="3" name="Content Placeholder 2"/>
          <p:cNvSpPr>
            <a:spLocks noGrp="1"/>
          </p:cNvSpPr>
          <p:nvPr>
            <p:ph idx="1"/>
          </p:nvPr>
        </p:nvSpPr>
        <p:spPr/>
        <p:txBody>
          <a:bodyPr/>
          <a:lstStyle/>
          <a:p>
            <a:r>
              <a:t>Different C2 styles leave different forensic fingerprints:</a:t>
            </a:r>
          </a:p>
          <a:p>
            <a:r>
              <a:t>  • Centralised push → strong fan-out burst → weight fan-out + temporal</a:t>
            </a:r>
          </a:p>
          <a:p>
            <a:r>
              <a:t>  • Beacon/poll → periodic contacts → weight temporal heavily</a:t>
            </a:r>
          </a:p>
          <a:p>
            <a:r>
              <a:t>  • Multi-hop proxy → indirect graph structure → weight graph + baseline</a:t>
            </a:r>
          </a:p>
          <a:p/>
          <a:p>
            <a:r>
              <a:t>COBT infers the C2 style from evidence patterns, then selects weights</a:t>
            </a:r>
          </a:p>
          <a:p>
            <a:r>
              <a:t>No supervised training needed — purely heuristic inference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Architecture</a:t>
            </a:r>
          </a:p>
        </p:txBody>
      </p:sp>
      <p:sp>
        <p:nvSpPr>
          <p:cNvPr id="3" name="Content Placeholder 2"/>
          <p:cNvSpPr>
            <a:spLocks noGrp="1"/>
          </p:cNvSpPr>
          <p:nvPr>
            <p:ph idx="1"/>
          </p:nvPr>
        </p:nvSpPr>
        <p:spPr/>
        <p:txBody>
          <a:bodyPr/>
          <a:lstStyle/>
          <a:p>
            <a:r>
              <a:t>data_sim/ → Configurable traffic simulator (3 attack types, 3 C2 styles)</a:t>
            </a:r>
          </a:p>
          <a:p>
            <a:r>
              <a:t>detection/ → Sliding-window detector (entropy + rate + SYN ratio)</a:t>
            </a:r>
          </a:p>
          <a:p>
            <a:r>
              <a:t>attribution/ → COBT scoring (4 signals + fusion + ranker)</a:t>
            </a:r>
          </a:p>
          <a:p>
            <a:r>
              <a:t>pipeline/ → End-to-end runner + CLI</a:t>
            </a:r>
          </a:p>
          <a:p>
            <a:r>
              <a:t>evaluation/ → Experiments, metrics, plots</a:t>
            </a:r>
          </a:p>
          <a:p/>
          <a:p>
            <a:r>
              <a:t>All Python, no ML frameworks, ~1500 lines of core 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10972800" cy="731520"/>
          </a:xfrm>
          <a:prstGeom prst="rect">
            <a:avLst/>
          </a:prstGeom>
          <a:noFill/>
        </p:spPr>
        <p:txBody>
          <a:bodyPr wrap="none">
            <a:spAutoFit/>
          </a:bodyPr>
          <a:lstStyle/>
          <a:p>
            <a:pPr>
              <a:defRPr sz="2800" b="1"/>
            </a:pPr>
            <a:r>
              <a:t>Detection Results</a:t>
            </a:r>
          </a:p>
        </p:txBody>
      </p:sp>
      <p:pic>
        <p:nvPicPr>
          <p:cNvPr id="4" name="Picture 3" descr="detection_by_attack_type.png"/>
          <p:cNvPicPr>
            <a:picLocks noChangeAspect="1"/>
          </p:cNvPicPr>
          <p:nvPr/>
        </p:nvPicPr>
        <p:blipFill>
          <a:blip r:embed="rId2"/>
          <a:stretch>
            <a:fillRect/>
          </a:stretch>
        </p:blipFill>
        <p:spPr>
          <a:xfrm>
            <a:off x="1371600" y="1371600"/>
            <a:ext cx="9144000" cy="50292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10972800" cy="731520"/>
          </a:xfrm>
          <a:prstGeom prst="rect">
            <a:avLst/>
          </a:prstGeom>
          <a:noFill/>
        </p:spPr>
        <p:txBody>
          <a:bodyPr wrap="none">
            <a:spAutoFit/>
          </a:bodyPr>
          <a:lstStyle/>
          <a:p>
            <a:pPr>
              <a:defRPr sz="2800" b="1"/>
            </a:pPr>
            <a:r>
              <a:t>Attribution: COBT vs Baselines</a:t>
            </a:r>
          </a:p>
        </p:txBody>
      </p:sp>
      <p:pic>
        <p:nvPicPr>
          <p:cNvPr id="4" name="Picture 3" descr="attribution_comparison.png"/>
          <p:cNvPicPr>
            <a:picLocks noChangeAspect="1"/>
          </p:cNvPicPr>
          <p:nvPr/>
        </p:nvPicPr>
        <p:blipFill>
          <a:blip r:embed="rId2"/>
          <a:stretch>
            <a:fillRect/>
          </a:stretch>
        </p:blipFill>
        <p:spPr>
          <a:xfrm>
            <a:off x="1371600" y="1371600"/>
            <a:ext cx="9144000" cy="50292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10972800" cy="731520"/>
          </a:xfrm>
          <a:prstGeom prst="rect">
            <a:avLst/>
          </a:prstGeom>
          <a:noFill/>
        </p:spPr>
        <p:txBody>
          <a:bodyPr wrap="none">
            <a:spAutoFit/>
          </a:bodyPr>
          <a:lstStyle/>
          <a:p>
            <a:pPr>
              <a:defRPr sz="2800" b="1"/>
            </a:pPr>
            <a:r>
              <a:t>Ablation Study</a:t>
            </a:r>
          </a:p>
        </p:txBody>
      </p:sp>
      <p:pic>
        <p:nvPicPr>
          <p:cNvPr id="4" name="Picture 3" descr="ablation_study.png"/>
          <p:cNvPicPr>
            <a:picLocks noChangeAspect="1"/>
          </p:cNvPicPr>
          <p:nvPr/>
        </p:nvPicPr>
        <p:blipFill>
          <a:blip r:embed="rId2"/>
          <a:stretch>
            <a:fillRect/>
          </a:stretch>
        </p:blipFill>
        <p:spPr>
          <a:xfrm>
            <a:off x="1371600" y="1371600"/>
            <a:ext cx="9144000" cy="50292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457200" y="274320"/>
            <a:ext cx="10972800" cy="731520"/>
          </a:xfrm>
          <a:prstGeom prst="rect">
            <a:avLst/>
          </a:prstGeom>
          <a:noFill/>
        </p:spPr>
        <p:txBody>
          <a:bodyPr wrap="none">
            <a:spAutoFit/>
          </a:bodyPr>
          <a:lstStyle/>
          <a:p>
            <a:pPr>
              <a:defRPr sz="2800" b="1"/>
            </a:pPr>
            <a:r>
              <a:t>Where COBT Struggles</a:t>
            </a:r>
          </a:p>
        </p:txBody>
      </p:sp>
      <p:pic>
        <p:nvPicPr>
          <p:cNvPr id="4" name="Picture 3" descr="limitation_scenarios.png"/>
          <p:cNvPicPr>
            <a:picLocks noChangeAspect="1"/>
          </p:cNvPicPr>
          <p:nvPr/>
        </p:nvPicPr>
        <p:blipFill>
          <a:blip r:embed="rId2"/>
          <a:stretch>
            <a:fillRect/>
          </a:stretch>
        </p:blipFill>
        <p:spPr>
          <a:xfrm>
            <a:off x="1371600" y="1371600"/>
            <a:ext cx="9144000" cy="50292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Demo</a:t>
            </a:r>
          </a:p>
        </p:txBody>
      </p:sp>
      <p:sp>
        <p:nvSpPr>
          <p:cNvPr id="3" name="Content Placeholder 2"/>
          <p:cNvSpPr>
            <a:spLocks noGrp="1"/>
          </p:cNvSpPr>
          <p:nvPr>
            <p:ph idx="1"/>
          </p:nvPr>
        </p:nvSpPr>
        <p:spPr/>
        <p:txBody>
          <a:bodyPr/>
          <a:lstStyle/>
          <a:p>
            <a:r>
              <a:t>python pipeline/cli.py demo</a:t>
            </a:r>
          </a:p>
          <a:p/>
          <a:p>
            <a:r>
              <a:t>Generates a synthetic scenario (10 bots, syn_flood, centralised C2)</a:t>
            </a:r>
          </a:p>
          <a:p>
            <a:r>
              <a:t>Runs detection → onset estimation → COBT attribution</a:t>
            </a:r>
          </a:p>
          <a:p>
            <a:r>
              <a:t>Shows Top-5 ranked candidates with scores</a:t>
            </a:r>
          </a:p>
          <a:p>
            <a:r>
              <a:t>Botmaster (10.0.0.1) should be ranked #1 with score ≈ 0.97</a:t>
            </a:r>
          </a:p>
          <a:p/>
          <a:p>
            <a:r>
              <a:t>Also: python pipeline/cli.py generate --attack-type http_flood --c2-style beacon</a:t>
            </a:r>
          </a:p>
          <a:p>
            <a:r>
              <a:t>      python pipeline/cli.py run output/scenario_001_flows.csv --top-k 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 &amp; Future Work</a:t>
            </a:r>
          </a:p>
        </p:txBody>
      </p:sp>
      <p:sp>
        <p:nvSpPr>
          <p:cNvPr id="3" name="Content Placeholder 2"/>
          <p:cNvSpPr>
            <a:spLocks noGrp="1"/>
          </p:cNvSpPr>
          <p:nvPr>
            <p:ph idx="1"/>
          </p:nvPr>
        </p:nvSpPr>
        <p:spPr/>
        <p:txBody>
          <a:bodyPr/>
          <a:lstStyle/>
          <a:p>
            <a:r>
              <a:t>COBT: novel post-detection attribution via temporal causal analysis</a:t>
            </a:r>
          </a:p>
          <a:p>
            <a:r>
              <a:t>Top-1 = 83.3%, MRR = 0.855 (vs random MRR 0.118)</a:t>
            </a:r>
          </a:p>
          <a:p>
            <a:r>
              <a:t>Works without training data, signatures, or payload inspection</a:t>
            </a:r>
          </a:p>
          <a:p/>
          <a:p>
            <a:r>
              <a:t>Limitations: proxy chains, extreme jitter, window parameter sensitivity</a:t>
            </a:r>
          </a:p>
          <a:p/>
          <a:p>
            <a:r>
              <a:t>Future work:</a:t>
            </a:r>
          </a:p>
          <a:p>
            <a:r>
              <a:t>  • Multi-hop chain tracing for proxied C2</a:t>
            </a:r>
          </a:p>
          <a:p>
            <a:r>
              <a:t>  • Adaptive pre-window selection</a:t>
            </a:r>
          </a:p>
          <a:p>
            <a:r>
              <a:t>  • Real-world validation with honeypot/lab data</a:t>
            </a:r>
          </a:p>
          <a:p>
            <a:r>
              <a:t>  • Encrypted traffic analysis (TLS metadata)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